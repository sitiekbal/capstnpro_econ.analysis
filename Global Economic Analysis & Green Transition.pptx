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lus Jakarta Sans"/>
      <p:regular r:id="rId20"/>
      <p:bold r:id="rId21"/>
      <p:italic r:id="rId22"/>
      <p:boldItalic r:id="rId23"/>
    </p:embeddedFont>
    <p:embeddedFont>
      <p:font typeface="Space Grotesk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6C4A343-E828-4ED6-8D06-649992346021}">
  <a:tblStyle styleId="{86C4A343-E828-4ED6-8D06-64999234602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regular.fntdata"/><Relationship Id="rId22" Type="http://schemas.openxmlformats.org/officeDocument/2006/relationships/font" Target="fonts/PlusJakartaSans-italic.fntdata"/><Relationship Id="rId21" Type="http://schemas.openxmlformats.org/officeDocument/2006/relationships/font" Target="fonts/PlusJakartaSans-bold.fntdata"/><Relationship Id="rId24" Type="http://schemas.openxmlformats.org/officeDocument/2006/relationships/font" Target="fonts/SpaceGrotesk-regular.fntdata"/><Relationship Id="rId23" Type="http://schemas.openxmlformats.org/officeDocument/2006/relationships/font" Target="fonts/PlusJakarta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SpaceGrotesk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274790"/>
            <a:ext cx="80962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4274790"/>
            <a:ext cx="8096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09600" y="1925984"/>
            <a:ext cx="101203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CAPSTONE EXECUTIVE DEFENSE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2249834"/>
            <a:ext cx="8601075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Global Growth vs. Carbon Emissions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3617565"/>
            <a:ext cx="1012031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Can world powers expand their economies without polluting the planet?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4551015"/>
            <a:ext cx="1143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PREPARED BY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4731990"/>
            <a:ext cx="1143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Siti Ekbal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771650" y="4551015"/>
            <a:ext cx="272653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SCOPE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771650" y="4731990"/>
            <a:ext cx="272653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 World Powers (2000–2023)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609600" y="2678310"/>
            <a:ext cx="3505200" cy="2343150"/>
          </a:xfrm>
          <a:prstGeom prst="roundRect">
            <a:avLst>
              <a:gd fmla="val 65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4343400" y="2678310"/>
            <a:ext cx="3505200" cy="2343150"/>
          </a:xfrm>
          <a:prstGeom prst="roundRect">
            <a:avLst>
              <a:gd fmla="val 65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8077200" y="2678310"/>
            <a:ext cx="3505200" cy="2343150"/>
          </a:xfrm>
          <a:prstGeom prst="roundRect">
            <a:avLst>
              <a:gd fmla="val 65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09600" y="501193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09600" y="2678310"/>
            <a:ext cx="35052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09600" y="2678310"/>
            <a:ext cx="9525" cy="23431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4105275" y="2678310"/>
            <a:ext cx="9525" cy="23431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4343400" y="501193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4343400" y="2678310"/>
            <a:ext cx="35052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343400" y="2678310"/>
            <a:ext cx="9525" cy="23431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7839075" y="2678310"/>
            <a:ext cx="9525" cy="23431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8077200" y="501193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8077200" y="2678310"/>
            <a:ext cx="35052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8077200" y="2678310"/>
            <a:ext cx="9525" cy="23431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11572875" y="2678310"/>
            <a:ext cx="9525" cy="23431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2" name="Google Shape;11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02121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7725" y="302121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1525" y="302121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2987" y="3154560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7262" y="315456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24875" y="315456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609600" y="381000"/>
            <a:ext cx="1106805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Core Challenge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Growth vs. Pollution Dilemma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923925" y="3668910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Industrial Demand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923925" y="4021335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Global economic expansion drives soaring demand for energy across manufacturing and infrastructure.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4657725" y="3668910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Persistent Emissions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4657725" y="4021335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Clean energy adoption is not keeping pace, leaving industries heavily dependent on fossil fuels.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8391525" y="3668910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Economic Risk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8391525" y="4021335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Failing to break this link exposes nations to severe climate impacts and mounting regulatory penalties.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609600" y="2316360"/>
            <a:ext cx="10972800" cy="895350"/>
          </a:xfrm>
          <a:prstGeom prst="roundRect">
            <a:avLst>
              <a:gd fmla="val 1276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609600" y="3402210"/>
            <a:ext cx="10972800" cy="895350"/>
          </a:xfrm>
          <a:prstGeom prst="roundRect">
            <a:avLst>
              <a:gd fmla="val 1276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609600" y="4488060"/>
            <a:ext cx="10972800" cy="895350"/>
          </a:xfrm>
          <a:prstGeom prst="roundRect">
            <a:avLst>
              <a:gd fmla="val 1276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609600" y="2316360"/>
            <a:ext cx="57150" cy="8953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609600" y="3402210"/>
            <a:ext cx="57150" cy="8953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609600" y="4488060"/>
            <a:ext cx="57150" cy="8953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609600" y="381000"/>
            <a:ext cx="1106805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Research Framework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 Core Questions Guiding the Study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971550" y="2597348"/>
            <a:ext cx="857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971550" y="3683198"/>
            <a:ext cx="857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971550" y="4769048"/>
            <a:ext cx="857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366F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1543050" y="2544960"/>
            <a:ext cx="106489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Decoupling Reality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1543050" y="2802135"/>
            <a:ext cx="106489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Are major economies successfully expanding GDP while keeping CO2 emissions flat or declining?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1543050" y="3630810"/>
            <a:ext cx="106489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Energy Mix Shifts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1543050" y="3887985"/>
            <a:ext cx="106489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fast is clean energy adopting across advanced nations versus fast-growing emerging markets?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1543050" y="4716660"/>
            <a:ext cx="106489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Future Trajectory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1543050" y="4973835"/>
            <a:ext cx="106489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Where will clean energy adoption stand by 2030 based on 24-year historical statistical trends?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/>
          <p:nvPr/>
        </p:nvSpPr>
        <p:spPr>
          <a:xfrm>
            <a:off x="5934075" y="2654498"/>
            <a:ext cx="5648325" cy="2390775"/>
          </a:xfrm>
          <a:prstGeom prst="roundRect">
            <a:avLst>
              <a:gd fmla="val 63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09600" y="2411610"/>
            <a:ext cx="2414587" cy="1343025"/>
          </a:xfrm>
          <a:prstGeom prst="roundRect">
            <a:avLst>
              <a:gd fmla="val 113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3214687" y="2411610"/>
            <a:ext cx="2414587" cy="1343025"/>
          </a:xfrm>
          <a:prstGeom prst="roundRect">
            <a:avLst>
              <a:gd fmla="val 113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609600" y="3945135"/>
            <a:ext cx="2414587" cy="1343025"/>
          </a:xfrm>
          <a:prstGeom prst="roundRect">
            <a:avLst>
              <a:gd fmla="val 113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3214687" y="3945135"/>
            <a:ext cx="2414587" cy="1343025"/>
          </a:xfrm>
          <a:prstGeom prst="roundRect">
            <a:avLst>
              <a:gd fmla="val 113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609600" y="381000"/>
            <a:ext cx="1106805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Scope &amp; Integrity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Rigorous 24-Year Panel Dataset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248400" y="2968823"/>
            <a:ext cx="59436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Economies in Study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6248400" y="3359348"/>
            <a:ext cx="511492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Developed Economies: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USA, Canada, Australia.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Emerging Powerhouses: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China, India, Russia.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Audit Note: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All variables checked for unit consistency, scale alignment, and historical shock validation (2008 financial crisis, pandemic spikes).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653057" y="2687835"/>
            <a:ext cx="2327671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653057" y="3306960"/>
            <a:ext cx="232767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Global Powers Analyzed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3258145" y="2687835"/>
            <a:ext cx="2327671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144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3258145" y="3306960"/>
            <a:ext cx="232767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Perfect Panel Observations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653057" y="4221360"/>
            <a:ext cx="2327671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6366F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653057" y="4840485"/>
            <a:ext cx="232767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Missing Records / Duplicates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3258145" y="4221360"/>
            <a:ext cx="2327671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36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3258145" y="4840485"/>
            <a:ext cx="232767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Macroeconomic Variables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/>
          <p:nvPr/>
        </p:nvSpPr>
        <p:spPr>
          <a:xfrm>
            <a:off x="609600" y="2616398"/>
            <a:ext cx="10972800" cy="24669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3" name="Google Shape;173;p17"/>
          <p:cNvGraphicFramePr/>
          <p:nvPr/>
        </p:nvGraphicFramePr>
        <p:xfrm>
          <a:off x="609600" y="26163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{86C4A343-E828-4ED6-8D06-649992346021}</a:tableStyleId>
              </a:tblPr>
              <a:tblGrid>
                <a:gridCol w="1467150"/>
                <a:gridCol w="3351450"/>
                <a:gridCol w="3351450"/>
                <a:gridCol w="2793200"/>
              </a:tblGrid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Country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GDP Growth (2000→2023)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CO2 Change (2000→2023)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Decoupling 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USA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+164% Expansion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596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-18% Reduction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Strong Decoupling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Canada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+191% Expansion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596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-2% Reduction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Strong Decoupling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China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+1,330% Massive Growth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+225% Expansion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Relative Decoupling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India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+640% Massive Growth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+180% Expansion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Relative Decoupling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74" name="Google Shape;174;p17"/>
          <p:cNvSpPr txBox="1"/>
          <p:nvPr/>
        </p:nvSpPr>
        <p:spPr>
          <a:xfrm>
            <a:off x="609600" y="381000"/>
            <a:ext cx="1106805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Empirical Finding #1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Growth vs. Emissions Breakdown (2000 vs. 2023)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/>
          <p:nvPr/>
        </p:nvSpPr>
        <p:spPr>
          <a:xfrm>
            <a:off x="609600" y="3016448"/>
            <a:ext cx="3505200" cy="1666875"/>
          </a:xfrm>
          <a:prstGeom prst="roundRect">
            <a:avLst>
              <a:gd fmla="val 9142" name="adj"/>
            </a:avLst>
          </a:prstGeom>
          <a:solidFill>
            <a:srgbClr val="FFF5F5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4343400" y="3016448"/>
            <a:ext cx="3505200" cy="1666875"/>
          </a:xfrm>
          <a:prstGeom prst="roundRect">
            <a:avLst>
              <a:gd fmla="val 9142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8077200" y="3016448"/>
            <a:ext cx="3505200" cy="1666875"/>
          </a:xfrm>
          <a:prstGeom prst="roundRect">
            <a:avLst>
              <a:gd fmla="val 9142" name="adj"/>
            </a:avLst>
          </a:prstGeom>
          <a:solidFill>
            <a:srgbClr val="F0F9FF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609600" y="381000"/>
            <a:ext cx="1106805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Concept Demystified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Does "Decoupling" Actually Mean?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923925" y="3330773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Coupled Growth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923925" y="3683198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GDP and pollution move together in lockstep. To double the economy, you must double emissions.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4657725" y="3330773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Strong Decoupling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4657725" y="3683198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ideal scenario: GDP grows steadily while carbon emissions actively shrink over time.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8391525" y="3330773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598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Relative Decoupling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8391525" y="3683198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Both grow, but GDP expands much faster than pollution. Each dollar of GDP becomes cleaner.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/>
          <p:nvPr/>
        </p:nvSpPr>
        <p:spPr>
          <a:xfrm>
            <a:off x="609600" y="2787848"/>
            <a:ext cx="5334000" cy="2124075"/>
          </a:xfrm>
          <a:prstGeom prst="roundRect">
            <a:avLst>
              <a:gd fmla="val 71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6248400" y="2787848"/>
            <a:ext cx="5334000" cy="2124075"/>
          </a:xfrm>
          <a:prstGeom prst="roundRect">
            <a:avLst>
              <a:gd fmla="val 71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609600" y="381000"/>
            <a:ext cx="1106805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Empirical Finding #2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Clean Energy Transition Trajectories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923925" y="3102173"/>
            <a:ext cx="617577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Advanced Economies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923925" y="3454598"/>
            <a:ext cx="4800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Canada: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Leads with over 60% clean electricity (hydropower baseline).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USA &amp; Australia: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Accelerating rapidly driven by utility-scale solar and wind power installations over the last decade.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562725" y="3102173"/>
            <a:ext cx="56292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Emerging Economies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562725" y="3454598"/>
            <a:ext cx="4800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China: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Absolute world leader in total renewable capacity added, yet coal power remains significant.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India: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Rapid growth in renewables, balancing massive poverty reduction with solar power expansion.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/>
          <p:nvPr/>
        </p:nvSpPr>
        <p:spPr>
          <a:xfrm>
            <a:off x="5486400" y="0"/>
            <a:ext cx="67056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8" name="Google Shape;2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6096000" y="2467123"/>
            <a:ext cx="609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TAKEAWAY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6096000" y="2867173"/>
            <a:ext cx="5860732" cy="822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Technology drives the tipping point.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6096000" y="3842295"/>
            <a:ext cx="55816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Economic expansion no longer requires increased pollution once renewable technology reaches cost parity with fossil fuels.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/>
          <p:nvPr/>
        </p:nvSpPr>
        <p:spPr>
          <a:xfrm>
            <a:off x="609600" y="2540198"/>
            <a:ext cx="6275040" cy="2619375"/>
          </a:xfrm>
          <a:prstGeom prst="roundRect">
            <a:avLst>
              <a:gd fmla="val 58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7189440" y="2911673"/>
            <a:ext cx="4392959" cy="1876425"/>
          </a:xfrm>
          <a:prstGeom prst="roundRect">
            <a:avLst>
              <a:gd fmla="val 8121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57245" y="322599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609600" y="381000"/>
            <a:ext cx="1106805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Predictive Modeling #1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Environmental Kuznets Curve (EKC)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923925" y="2854523"/>
            <a:ext cx="74108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Turning Point Concept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923925" y="3245048"/>
            <a:ext cx="57416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Hypothesis: As poor countries industrialize, emissions rise. But after reaching a specific income threshold (GDP per Capita), public demand and green technology cause emissions to bend downward.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Finding: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Polynomial regression confirms that advanced powers have passed this inflection point, while emerging powers are nearing their peak carbon intensity.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915591" y="3835598"/>
            <a:ext cx="494065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Inflection Reached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7033226" y="4130873"/>
            <a:ext cx="47053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per-capita GDP nations demonstrate declining emission intensity per dollar produced.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/>
          <p:nvPr/>
        </p:nvSpPr>
        <p:spPr>
          <a:xfrm>
            <a:off x="609600" y="2816423"/>
            <a:ext cx="3505200" cy="2066925"/>
          </a:xfrm>
          <a:prstGeom prst="roundRect">
            <a:avLst>
              <a:gd fmla="val 73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4343400" y="2702123"/>
            <a:ext cx="3505200" cy="2295525"/>
          </a:xfrm>
          <a:prstGeom prst="roundRect">
            <a:avLst>
              <a:gd fmla="val 663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8077200" y="2816423"/>
            <a:ext cx="3505200" cy="2066925"/>
          </a:xfrm>
          <a:prstGeom prst="roundRect">
            <a:avLst>
              <a:gd fmla="val 73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923925" y="3130748"/>
            <a:ext cx="1085850" cy="28575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4657725" y="3016448"/>
            <a:ext cx="1238250" cy="28575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8391525" y="3130748"/>
            <a:ext cx="1114425" cy="28575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609600" y="381000"/>
            <a:ext cx="1106805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Predictive Modeling #2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2030 Clean Energy Projections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1057275" y="3187898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Accelerating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923925" y="3530798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China &amp; India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923925" y="3883223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Projected to see the highest rate of renewable growth through 2030, driven by national solar initiatives.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4791075" y="3073598"/>
            <a:ext cx="1066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Steady Growth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4657725" y="3416498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USA &amp; Canada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4657725" y="3768923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Steady expansion projected, accelerating further under favorable regulatory incentives and grid modernization.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8524875" y="3187898"/>
            <a:ext cx="9429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Baseline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8391525" y="3530798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Australia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8391525" y="3883223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Rooftop solar penetration pushes renewable generation share toward national target thresholds by 2030.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"/>
          <p:cNvSpPr/>
          <p:nvPr/>
        </p:nvSpPr>
        <p:spPr>
          <a:xfrm>
            <a:off x="609600" y="2887860"/>
            <a:ext cx="3505200" cy="1924050"/>
          </a:xfrm>
          <a:prstGeom prst="roundRect">
            <a:avLst>
              <a:gd fmla="val 792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4343400" y="3002160"/>
            <a:ext cx="3505200" cy="1695450"/>
          </a:xfrm>
          <a:prstGeom prst="roundRect">
            <a:avLst>
              <a:gd fmla="val 898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8077200" y="2887860"/>
            <a:ext cx="3505200" cy="1924050"/>
          </a:xfrm>
          <a:prstGeom prst="roundRect">
            <a:avLst>
              <a:gd fmla="val 792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609600" y="480238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609600" y="2887860"/>
            <a:ext cx="35052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609600" y="2887860"/>
            <a:ext cx="9525" cy="1924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4105275" y="2887860"/>
            <a:ext cx="9525" cy="1924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4343400" y="468808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4343400" y="3002160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4343400" y="3002160"/>
            <a:ext cx="9525" cy="1695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7839075" y="3002160"/>
            <a:ext cx="9525" cy="1695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8077200" y="480238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8077200" y="2887860"/>
            <a:ext cx="35052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8077200" y="2887860"/>
            <a:ext cx="9525" cy="1924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11572875" y="2887860"/>
            <a:ext cx="9525" cy="1924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609600" y="381000"/>
            <a:ext cx="1106805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Action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 Policy Principles for Decoupling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923925" y="3230760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01. Tech Transfer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923925" y="3583185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Export advanced clean technology to emerging economies to shorten their reliance on coal during industrial expansion.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4657725" y="3345060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02. Grid Capacity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4657725" y="3697485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Invest heavily in modern power grids and battery storage to handle variable solar and wind power output.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8391525" y="3230760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03. Carbon Pricing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8391525" y="3583185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 transparent carbon regulations to incentivize industries to adopt energy-efficient production methods.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"/>
          <p:cNvSpPr/>
          <p:nvPr/>
        </p:nvSpPr>
        <p:spPr>
          <a:xfrm>
            <a:off x="5029200" y="4162425"/>
            <a:ext cx="2133600" cy="447675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 txBox="1"/>
          <p:nvPr/>
        </p:nvSpPr>
        <p:spPr>
          <a:xfrm>
            <a:off x="5486400" y="2247900"/>
            <a:ext cx="1219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CONCLUSION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4608314" y="2647950"/>
            <a:ext cx="2975371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2524125" y="3381375"/>
            <a:ext cx="7143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Economic expansion and environmental protection can coexist through technology and strategic energy planning.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4991100" y="4276725"/>
            <a:ext cx="2209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Questions &amp; Discussion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6" name="Google Shape;28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8004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571500" y="571500"/>
            <a:ext cx="292536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1666875" y="1118145"/>
            <a:ext cx="6191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https://assets.thisistbs.com/pertumbuhan-ekonomi_-1x1-1-tablet-1024x1024.jpg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1666875" y="1318170"/>
            <a:ext cx="19764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thisistbs.com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